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魅力属性</c:v>
                </c:pt>
              </c:strCache>
            </c:strRef>
          </c:tx>
          <c:spPr>
            <a:solidFill>
              <a:srgbClr val="18875B"/>
            </a:solidFill>
            <a:ln w="47625">
              <a:noFill/>
            </a:ln>
          </c:spPr>
          <c:marker>
            <c:symbol val="circle"/>
            <c:size val="8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0.25</c:v>
                </c:pt>
                <c:pt idx="1">
                  <c:v>0.69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0.65</c:v>
                </c:pt>
                <c:pt idx="1">
                  <c:v>0.38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期望属性</c:v>
                </c:pt>
              </c:strCache>
            </c:strRef>
          </c:tx>
          <c:spPr>
            <a:solidFill>
              <a:srgbClr val="2563EB"/>
            </a:solidFill>
            <a:ln w="47625">
              <a:noFill/>
            </a:ln>
          </c:spPr>
          <c:marker>
            <c:symbol val="circle"/>
            <c:size val="8"/>
          </c:marker>
          <c:xVal>
            <c:numRef>
              <c:f>Sheet1!$A$6:$A$6</c:f>
              <c:numCache>
                <c:formatCode>General</c:formatCode>
                <c:ptCount val="1"/>
                <c:pt idx="0">
                  <c:v>0.66</c:v>
                </c:pt>
              </c:numCache>
            </c:numRef>
          </c:xVal>
          <c:yVal>
            <c:numRef>
              <c:f>Sheet1!$B$6:$B$6</c:f>
              <c:numCache>
                <c:formatCode>General</c:formatCode>
                <c:ptCount val="1"/>
                <c:pt idx="0">
                  <c:v>0.72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Sheet1!$B$8</c:f>
              <c:strCache>
                <c:ptCount val="1"/>
                <c:pt idx="0">
                  <c:v>必备属性</c:v>
                </c:pt>
              </c:strCache>
            </c:strRef>
          </c:tx>
          <c:spPr>
            <a:solidFill>
              <a:srgbClr val="B7791F"/>
            </a:solidFill>
            <a:ln w="47625">
              <a:noFill/>
            </a:ln>
          </c:spPr>
          <c:marker>
            <c:symbol val="circle"/>
            <c:size val="8"/>
          </c:marker>
          <c:xVal>
            <c:numRef>
              <c:f>Sheet1!$A$9:$A$9</c:f>
              <c:numCache>
                <c:formatCode>General</c:formatCode>
                <c:ptCount val="1"/>
                <c:pt idx="0">
                  <c:v>0.81</c:v>
                </c:pt>
              </c:numCache>
            </c:numRef>
          </c:xVal>
          <c:yVal>
            <c:numRef>
              <c:f>Sheet1!$B$9:$B$9</c:f>
              <c:numCache>
                <c:formatCode>General</c:formatCode>
                <c:ptCount val="1"/>
                <c:pt idx="0">
                  <c:v>0.42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0"/>
          <c:min val="0.0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8FA3B8"/>
            </a:solidFill>
          </a:ln>
        </c:spPr>
        <c:txPr>
          <a:bodyPr/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</a:p>
        </c:txPr>
        <c:crossAx val="-2129643912"/>
        <c:crossesAt val="0.5425"/>
        <c:crossBetween val="midCat"/>
        <c:majorUnit val="0.25"/>
      </c:valAx>
      <c:valAx>
        <c:axId val="-2129643912"/>
        <c:scaling>
          <c:orientation val="minMax"/>
          <c:max val="1.0"/>
          <c:min val="0.0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8FA3B8"/>
            </a:solidFill>
          </a:ln>
        </c:spPr>
        <c:txPr>
          <a:bodyPr/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</a:p>
        </c:txPr>
        <c:crossAx val="-2128940872"/>
        <c:crossesAt val="0.6025"/>
        <c:crossBetween val="midCat"/>
        <c:majorUnit val="0.25"/>
      </c:valAx>
      <c:spPr>
        <a:noFill/>
        <a:ln w="9525">
          <a:solidFill>
            <a:srgbClr val="DCE5EE"/>
          </a:solidFill>
        </a:ln>
      </c:spPr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500" b="1">
                <a:solidFill>
                  <a:srgbClr val="24364B"/>
                </a:solidFill>
                <a:latin typeface="Microsoft YaHei"/>
              </a:defRPr>
            </a:pPr>
            <a:r>
              <a:t>KANO Better–Worse 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88136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需求属性在满意提升与不满意风险上的位置 · 单页可编辑图表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88720"/>
            <a:ext cx="8485632" cy="5138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04672" y="1481328"/>
          <a:ext cx="7973568" cy="44622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22874" y="5129784"/>
            <a:ext cx="1078992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  <a:latin typeface="Microsoft YaHei"/>
              </a:defRPr>
            </a:pPr>
            <a:r>
              <a:t>Worse 均值 0.60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3185220"/>
            <a:ext cx="1078992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  <a:latin typeface="Microsoft YaHei"/>
              </a:defRPr>
            </a:pPr>
            <a:r>
              <a:t>Better 均值 0.54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0744" y="1792224"/>
            <a:ext cx="841248" cy="256032"/>
          </a:xfrm>
          <a:prstGeom prst="roundRect">
            <a:avLst/>
          </a:prstGeom>
          <a:solidFill>
            <a:srgbClr val="18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1801368"/>
            <a:ext cx="786384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魅力属性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88936" y="1792224"/>
            <a:ext cx="841248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7" y="1801368"/>
            <a:ext cx="786384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期望属性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0744" y="5029200"/>
            <a:ext cx="960120" cy="25603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5038344"/>
            <a:ext cx="905256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无差异属性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936" y="5029200"/>
            <a:ext cx="841248" cy="256032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7" y="5038344"/>
            <a:ext cx="786384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必备属性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3444" y="2750149"/>
            <a:ext cx="100584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819" b="1">
                <a:solidFill>
                  <a:srgbClr val="24364B"/>
                </a:solidFill>
                <a:latin typeface="Microsoft YaHei"/>
              </a:defRPr>
            </a:pPr>
            <a:r>
              <a:t>配送速度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6684" y="3001060"/>
            <a:ext cx="100584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819" b="1">
                <a:solidFill>
                  <a:srgbClr val="24364B"/>
                </a:solidFill>
                <a:latin typeface="Microsoft YaHei"/>
              </a:defRPr>
            </a:pPr>
            <a:r>
              <a:t>包装设计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671" y="3968861"/>
            <a:ext cx="100584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819" b="1">
                <a:solidFill>
                  <a:srgbClr val="24364B"/>
                </a:solidFill>
                <a:latin typeface="Microsoft YaHei"/>
              </a:defRPr>
            </a:pPr>
            <a:r>
              <a:t>包装质感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3478" y="3760825"/>
            <a:ext cx="100584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819" b="1">
                <a:solidFill>
                  <a:srgbClr val="24364B"/>
                </a:solidFill>
                <a:latin typeface="Microsoft YaHei"/>
              </a:defRPr>
            </a:pPr>
            <a:r>
              <a:t>售后保障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261872"/>
            <a:ext cx="2221992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300" b="1">
                <a:solidFill>
                  <a:srgbClr val="17365D"/>
                </a:solidFill>
                <a:latin typeface="Microsoft YaHei"/>
              </a:defRPr>
            </a:pPr>
            <a:r>
              <a:t>重点属性坐标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700784"/>
            <a:ext cx="2221992" cy="71323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1773936"/>
            <a:ext cx="1984248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A01 · 配送速度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1984248"/>
            <a:ext cx="1984248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Microsoft YaHei"/>
              </a:defRPr>
            </a:pPr>
            <a:r>
              <a:t>B 0.72 · W -0.66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2532888"/>
            <a:ext cx="2221992" cy="71323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606040"/>
            <a:ext cx="1984248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A04 · 售后保障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2816352"/>
            <a:ext cx="1984248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Microsoft YaHei"/>
              </a:defRPr>
            </a:pPr>
            <a:r>
              <a:t>B 0.42 · W -0.81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3364992"/>
            <a:ext cx="2221992" cy="71323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3438144"/>
            <a:ext cx="1984248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A03 · 包装质感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3648456"/>
            <a:ext cx="1984248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Microsoft YaHei"/>
              </a:defRPr>
            </a:pPr>
            <a:r>
              <a:t>B 0.38 · W -0.69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4197096"/>
            <a:ext cx="2221992" cy="71323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4270248"/>
            <a:ext cx="1984248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A02 · 包装设计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480559"/>
            <a:ext cx="1984248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Microsoft YaHei"/>
              </a:defRPr>
            </a:pPr>
            <a:r>
              <a:t>B 0.65 · W -0.25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6483096"/>
            <a:ext cx="1097280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来源：SurveyKit 研究模型计算结果 · KANO · 4 个属性 · 象限交叉线为有效属性系数均值 · 图表与数据可在 PowerPoint 中编辑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KANO Better–Worse 分析</dc:title>
  <dc:subject>Editable SurveyKit research model chart</dc:subject>
  <dc:creator>SurveyKit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